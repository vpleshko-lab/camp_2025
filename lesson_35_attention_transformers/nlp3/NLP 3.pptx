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68" r:id="rId16"/>
    <p:sldId id="270" r:id="rId17"/>
    <p:sldId id="271" r:id="rId18"/>
    <p:sldId id="272" r:id="rId19"/>
    <p:sldId id="278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data-science/transformers-explained-visually-part-3-multi-head-attention-deep-dive-1c1ff102485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lmarena.ai/leaderboard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54191-013F-5DEB-113A-28FC62225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NLP 3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7A57BAB-3781-8BE4-BE32-928E631E0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Transformers, LLM, embeddings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2510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65332-F134-07AC-C4B1-D04B7E62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  <a:endParaRPr lang="uk-UA" dirty="0"/>
          </a:p>
        </p:txBody>
      </p:sp>
      <p:pic>
        <p:nvPicPr>
          <p:cNvPr id="2050" name="Picture 2" descr="Recurrent Neural Network Basics: What You Need to Know | Grammarly">
            <a:extLst>
              <a:ext uri="{FF2B5EF4-FFF2-40B4-BE49-F238E27FC236}">
                <a16:creationId xmlns:a16="http://schemas.microsoft.com/office/drawing/2014/main" id="{67664323-15A1-99C0-2945-9FD388B1B7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843" y="2286000"/>
            <a:ext cx="754445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9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F3E01-9A25-CDA9-4573-36FCA47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issues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0225CD8-5888-3BCB-5F9F-EDCB6476E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Processing is slow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RNN struggle with long-range dependencies (even with LSTMs)</a:t>
            </a:r>
            <a:endParaRPr lang="uk-UA" dirty="0"/>
          </a:p>
        </p:txBody>
      </p:sp>
      <p:pic>
        <p:nvPicPr>
          <p:cNvPr id="3074" name="Picture 2" descr="1 Sequential processing vs parallel processing (Retrieved from Ortiz... |  Download Scientific Diagram">
            <a:extLst>
              <a:ext uri="{FF2B5EF4-FFF2-40B4-BE49-F238E27FC236}">
                <a16:creationId xmlns:a16="http://schemas.microsoft.com/office/drawing/2014/main" id="{65F30E4D-3621-4C78-5DF6-A1FADD3B4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920" y="3285567"/>
            <a:ext cx="5302159" cy="322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68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FE7BC-E727-5440-BEF9-66E34E32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uk-UA" dirty="0"/>
          </a:p>
        </p:txBody>
      </p:sp>
      <p:pic>
        <p:nvPicPr>
          <p:cNvPr id="4100" name="Picture 4" descr="H_M. Seq2seq and attention - Pytorch Implementation - EN - Deep Learning  Bible - 3. Natural Language Processing - Eng.">
            <a:extLst>
              <a:ext uri="{FF2B5EF4-FFF2-40B4-BE49-F238E27FC236}">
                <a16:creationId xmlns:a16="http://schemas.microsoft.com/office/drawing/2014/main" id="{45B63FE2-0D22-7A64-23E8-F7BE11C22E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006" y="2473325"/>
            <a:ext cx="8620125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8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AA583-F20E-2E1D-DBC5-6A657BEF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8C97E92-9D73-0D3A-6168-DCC69108A4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17" y="2657565"/>
            <a:ext cx="5514975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3FCBC590-36EF-EDD5-176E-5824005E5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109" y="2833778"/>
            <a:ext cx="52673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44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81BB7-96CB-1AA0-B995-41113D7C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Self-attention</a:t>
            </a:r>
            <a:endParaRPr lang="uk-UA" dirty="0"/>
          </a:p>
        </p:txBody>
      </p:sp>
      <p:pic>
        <p:nvPicPr>
          <p:cNvPr id="6146" name="Picture 2" descr="Multi-Head Self-Attention in NLP">
            <a:extLst>
              <a:ext uri="{FF2B5EF4-FFF2-40B4-BE49-F238E27FC236}">
                <a16:creationId xmlns:a16="http://schemas.microsoft.com/office/drawing/2014/main" id="{0649966D-88EB-2378-B0F4-3847BCC6F9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291" y="2900537"/>
            <a:ext cx="5955555" cy="279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85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AF1CE-0DDB-0E9E-FA04-40872E55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Self-attention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313B77-4FBE-A96F-345A-EDF720839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Input Word ("it")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Tokenizer -&gt; ID (56)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Embedding Matrix -&gt; Word Embedding (vector x)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Vector goes through a multiplication: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x -&gt; Multiply by W_Q -&gt; Query vector (q)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x -&gt; Multiply by W_K -&gt; Key vector (k)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US" dirty="0"/>
              <a:t>x -&gt; Multiply by W_V -&gt; Value vector (v)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7287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9909F-B755-58BA-3F10-12BA3FC8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8E4CC52-B740-21CA-E49D-76DB5F3D46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697" y="2286000"/>
            <a:ext cx="499274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62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A34BA-4219-D647-2DD8-72A486D5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Encodings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B12E8A0-8B60-35F1-0A5B-4B91AB96F9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724" y="2286000"/>
            <a:ext cx="486469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23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D60C-C98A-ED9D-518B-E8D031D0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Input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7E842AF-CA2F-F41B-B8DE-36D77BFB43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24" y="2875140"/>
            <a:ext cx="8888889" cy="284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389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16A4D-FC54-9C9C-6CD8-931EE9D6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Nice article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B044D90-E448-7FAA-F9F5-26B4BF478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Medium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7148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89DEF-28D0-0B07-9056-137EC635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</a:t>
            </a:r>
            <a:endParaRPr lang="uk-UA" dirty="0"/>
          </a:p>
        </p:txBody>
      </p:sp>
      <p:pic>
        <p:nvPicPr>
          <p:cNvPr id="11266" name="Picture 2" descr="Attention is all you Need: Transformers - Decoding Data Science">
            <a:extLst>
              <a:ext uri="{FF2B5EF4-FFF2-40B4-BE49-F238E27FC236}">
                <a16:creationId xmlns:a16="http://schemas.microsoft.com/office/drawing/2014/main" id="{0D09EDAA-D297-74A0-05D8-58DF6F471A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439" y="1533730"/>
            <a:ext cx="5973121" cy="508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52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DC1BE-FC8F-8D89-052E-0104465B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  <a:endParaRPr lang="uk-UA" dirty="0"/>
          </a:p>
        </p:txBody>
      </p:sp>
      <p:pic>
        <p:nvPicPr>
          <p:cNvPr id="12290" name="Picture 2" descr="LLM fine-tuning step: Tokenizing. Tokenization is a crucial phase in… | by  TeeTracker | Medium">
            <a:extLst>
              <a:ext uri="{FF2B5EF4-FFF2-40B4-BE49-F238E27FC236}">
                <a16:creationId xmlns:a16="http://schemas.microsoft.com/office/drawing/2014/main" id="{BE4FE83B-ED2F-B56A-2BDC-7AD0F889F4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2" b="26070"/>
          <a:stretch>
            <a:fillRect/>
          </a:stretch>
        </p:blipFill>
        <p:spPr bwMode="auto">
          <a:xfrm>
            <a:off x="2622567" y="2751909"/>
            <a:ext cx="6523003" cy="250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45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A8C53-6030-3728-0D27-F16C27AD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666AC42-CD69-7470-FE04-6286135F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Encoder-only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Decoder-only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Encoder-</a:t>
            </a:r>
            <a:r>
              <a:rPr lang="en-US" dirty="0" err="1"/>
              <a:t>Decorer</a:t>
            </a:r>
            <a:r>
              <a:rPr lang="en-US" dirty="0"/>
              <a:t> models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56396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4988C-3670-539E-DAE9-230B42EA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Encoder-only Models (The Understanders)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E0203D2-71D1-5E79-E65D-E31E2B3A6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 BERT, 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DistilBERT</a:t>
            </a:r>
            <a:endParaRPr lang="en-US" dirty="0"/>
          </a:p>
          <a:p>
            <a:r>
              <a:rPr lang="en-US" dirty="0"/>
              <a:t>Architecture: Uses only the Transformer's encoder stack.</a:t>
            </a:r>
          </a:p>
          <a:p>
            <a:r>
              <a:rPr lang="en-US" dirty="0"/>
              <a:t>How it Learns: Trained on a Masked Language Modeling (MLM) objective. It takes a sentence, randomly hides about 15% of the words ([MASK]), and its only job is to predict what those hidden words are. To do this, it must learn a deep, bi-directional understanding of the text.</a:t>
            </a:r>
          </a:p>
          <a:p>
            <a:r>
              <a:rPr lang="en-US" dirty="0"/>
              <a:t>Best for: Tasks that require a deep understanding of the full context of a sentence, such as text classification, sentiment analysis, and Named Entity Recognition (NER).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86030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A8229-2B67-847E-026D-18CCB306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Decoder-only Models (The Generators)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A8FB5E-4202-5B0E-2AB6-530A33C7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 The GPT series (from OpenAI), Llama (from Meta), Claude (from Anthropic), Gemini (from Google).</a:t>
            </a:r>
          </a:p>
          <a:p>
            <a:r>
              <a:rPr lang="en-US" dirty="0"/>
              <a:t>Architecture: Uses only the Transformer's decoder stack.</a:t>
            </a:r>
          </a:p>
          <a:p>
            <a:r>
              <a:rPr lang="en-US" dirty="0"/>
              <a:t>How it Learns: Trained on a simple Next-Token Prediction objective. Given a sequence of text, its only job is to predict the most probable next word.</a:t>
            </a:r>
          </a:p>
          <a:p>
            <a:r>
              <a:rPr lang="en-US" dirty="0"/>
              <a:t>Best for: Any generative task. This is the dominant architecture for chatbots, content creation, creative writing, and general-purpose conversational AI.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90253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5F792-1FEE-2571-B99A-AF29FDDE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Models (The Converters)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E73B718-B4B4-85EF-6F15-C0F23DD39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 The original Transformer, T5, BART.</a:t>
            </a:r>
          </a:p>
          <a:p>
            <a:r>
              <a:rPr lang="en-US" dirty="0"/>
              <a:t>Architecture: Uses the full Transformer structure.</a:t>
            </a:r>
          </a:p>
          <a:p>
            <a:r>
              <a:rPr lang="en-US" dirty="0"/>
              <a:t>How it Learns: Trained specifically on tasks that require converting an input sequence into a new output sequence.</a:t>
            </a:r>
          </a:p>
          <a:p>
            <a:r>
              <a:rPr lang="en-US" dirty="0"/>
              <a:t>Best for: Sequence-to-sequence tasks like translation, summarization, and document rephrasing.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14371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BABF42-B70D-3D0D-8EE9-59E29D17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training</a:t>
            </a:r>
            <a:endParaRPr lang="uk-UA" dirty="0"/>
          </a:p>
        </p:txBody>
      </p:sp>
      <p:pic>
        <p:nvPicPr>
          <p:cNvPr id="15362" name="Picture 2" descr="New LLM Pre-training and Post-training Paradigms">
            <a:extLst>
              <a:ext uri="{FF2B5EF4-FFF2-40B4-BE49-F238E27FC236}">
                <a16:creationId xmlns:a16="http://schemas.microsoft.com/office/drawing/2014/main" id="{B9FA822B-360D-5539-BB0C-E3340EFEB4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251" y="1604596"/>
            <a:ext cx="5991497" cy="513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413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FD650-6278-DA0A-845C-832D3986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serving - cloud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D69F507-359F-B78F-1549-C5AEC29BD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6" y="1819275"/>
            <a:ext cx="5643155" cy="4490085"/>
          </a:xfrm>
        </p:spPr>
        <p:txBody>
          <a:bodyPr>
            <a:normAutofit/>
          </a:bodyPr>
          <a:lstStyle/>
          <a:p>
            <a:r>
              <a:rPr lang="en-US" dirty="0"/>
              <a:t>Key Players: OpenAI (with their GPT series), Google (the Gemini family), and Anthropic (the Claude family).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Access to the most powerful models available.</a:t>
            </a:r>
          </a:p>
          <a:p>
            <a:pPr lvl="1"/>
            <a:r>
              <a:rPr lang="en-US" dirty="0"/>
              <a:t>Zero hardware setup or maintenance.</a:t>
            </a:r>
          </a:p>
          <a:p>
            <a:pPr lvl="1"/>
            <a:r>
              <a:rPr lang="en-US" dirty="0"/>
              <a:t>Highly scalable.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Pay-per-use, which can become costly.</a:t>
            </a:r>
          </a:p>
          <a:p>
            <a:pPr lvl="1"/>
            <a:r>
              <a:rPr lang="en-US" dirty="0"/>
              <a:t>Data privacy concerns, as you are sending your data to a third-party service.</a:t>
            </a:r>
          </a:p>
          <a:p>
            <a:pPr lvl="1"/>
            <a:r>
              <a:rPr lang="en-US" dirty="0"/>
              <a:t>Requires a constant internet connection.</a:t>
            </a:r>
            <a:endParaRPr lang="uk-UA" dirty="0"/>
          </a:p>
        </p:txBody>
      </p:sp>
      <p:pic>
        <p:nvPicPr>
          <p:cNvPr id="16388" name="Picture 4" descr="Cloud Strategies for LLM Model Deployment : AWS, Azure, GCP">
            <a:extLst>
              <a:ext uri="{FF2B5EF4-FFF2-40B4-BE49-F238E27FC236}">
                <a16:creationId xmlns:a16="http://schemas.microsoft.com/office/drawing/2014/main" id="{4B7F5271-E54F-8186-8051-69FE8BEBF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463" y="181927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00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914EB-C965-0797-EBC7-0BBD88DD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Llm</a:t>
            </a:r>
            <a:r>
              <a:rPr lang="en-US" dirty="0"/>
              <a:t> serving - local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61F3C9D-7D30-95DF-A533-A9EDCB36B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47" y="1837509"/>
            <a:ext cx="5509803" cy="4815840"/>
          </a:xfrm>
        </p:spPr>
        <p:txBody>
          <a:bodyPr>
            <a:normAutofit fontScale="92500"/>
          </a:bodyPr>
          <a:lstStyle/>
          <a:p>
            <a:r>
              <a:rPr lang="en-US" dirty="0"/>
              <a:t>Key Enabler: A tool called </a:t>
            </a:r>
            <a:r>
              <a:rPr lang="en-US" dirty="0" err="1"/>
              <a:t>Ollama</a:t>
            </a:r>
            <a:r>
              <a:rPr lang="en-US" dirty="0"/>
              <a:t> has made this process remarkably simple. It acts as a package manager, allowing you to download and run leading open-source models like Meta's Llama 3 or models from Mistral with a single command.</a:t>
            </a:r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Complete data privacy and control.</a:t>
            </a:r>
          </a:p>
          <a:p>
            <a:pPr lvl="1"/>
            <a:r>
              <a:rPr lang="en-US" dirty="0"/>
              <a:t>No per-call cost after initial hardware investment.</a:t>
            </a:r>
          </a:p>
          <a:p>
            <a:pPr lvl="1"/>
            <a:r>
              <a:rPr lang="en-US" dirty="0"/>
              <a:t>Works offline.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Requires capable hardware (especially significant amounts of RAM and a good GPU).</a:t>
            </a:r>
          </a:p>
          <a:p>
            <a:pPr lvl="1"/>
            <a:r>
              <a:rPr lang="en-US" dirty="0"/>
              <a:t>Models are powerful but often slightly behind the performance of the absolute top-tier commercial models.</a:t>
            </a:r>
          </a:p>
          <a:p>
            <a:pPr lvl="1"/>
            <a:r>
              <a:rPr lang="en-US" dirty="0"/>
              <a:t>You are responsible for setup and management.</a:t>
            </a:r>
            <a:endParaRPr lang="uk-UA" dirty="0"/>
          </a:p>
        </p:txBody>
      </p:sp>
      <p:pic>
        <p:nvPicPr>
          <p:cNvPr id="17411" name="Picture 3" descr="All You Need To Know About Running LLMs Locally">
            <a:extLst>
              <a:ext uri="{FF2B5EF4-FFF2-40B4-BE49-F238E27FC236}">
                <a16:creationId xmlns:a16="http://schemas.microsoft.com/office/drawing/2014/main" id="{65FEFBC4-9C36-C00F-0091-644A1C61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1837509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209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7F547-4E19-8C82-5B69-BBF0DC0D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Lmsys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85A2880D-01A0-0A7B-A5D6-6738CD08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1608" y="1750423"/>
            <a:ext cx="8768783" cy="4897039"/>
          </a:xfrm>
        </p:spPr>
      </p:pic>
    </p:spTree>
    <p:extLst>
      <p:ext uri="{BB962C8B-B14F-4D97-AF65-F5344CB8AC3E}">
        <p14:creationId xmlns:p14="http://schemas.microsoft.com/office/powerpoint/2010/main" val="442165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99DA0-0D0C-1052-848D-03143EE9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C8A871D-328F-5CB1-42F0-6FAB6C5E9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6157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11745-C969-A3C7-73CD-66151CCF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B6DD59-F831-17E2-DFCC-58C1339B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2888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149</TotalTime>
  <Words>566</Words>
  <Application>Microsoft Office PowerPoint</Application>
  <PresentationFormat>Широкий екран</PresentationFormat>
  <Paragraphs>65</Paragraphs>
  <Slides>23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23</vt:i4>
      </vt:variant>
    </vt:vector>
  </HeadingPairs>
  <TitlesOfParts>
    <vt:vector size="29" baseType="lpstr">
      <vt:lpstr>Arial</vt:lpstr>
      <vt:lpstr>Calibri</vt:lpstr>
      <vt:lpstr>Tw Cen MT</vt:lpstr>
      <vt:lpstr>Tw Cen MT Condensed</vt:lpstr>
      <vt:lpstr>Wingdings 3</vt:lpstr>
      <vt:lpstr>Інтеграл</vt:lpstr>
      <vt:lpstr>NLP 3</vt:lpstr>
      <vt:lpstr>RNN</vt:lpstr>
      <vt:lpstr>RNN issues</vt:lpstr>
      <vt:lpstr>Attention</vt:lpstr>
      <vt:lpstr>Attention</vt:lpstr>
      <vt:lpstr>Transformers: Self-attention</vt:lpstr>
      <vt:lpstr>Transformers: Self-attention</vt:lpstr>
      <vt:lpstr>Multi-head attention</vt:lpstr>
      <vt:lpstr>Positional Encodings</vt:lpstr>
      <vt:lpstr>Encoder Input</vt:lpstr>
      <vt:lpstr>Nice article</vt:lpstr>
      <vt:lpstr>Encoder-decoder</vt:lpstr>
      <vt:lpstr>Tokenization</vt:lpstr>
      <vt:lpstr>LLM</vt:lpstr>
      <vt:lpstr>Encoder-only Models (The Understanders)</vt:lpstr>
      <vt:lpstr>Decoder-only Models (The Generators)</vt:lpstr>
      <vt:lpstr>Encoder-Decoder Models (The Converters)</vt:lpstr>
      <vt:lpstr>LLM training</vt:lpstr>
      <vt:lpstr>LLM serving - cloud</vt:lpstr>
      <vt:lpstr>Llm serving - local</vt:lpstr>
      <vt:lpstr>Lmsys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Borys Lypa</dc:creator>
  <cp:lastModifiedBy>Borys Lypa</cp:lastModifiedBy>
  <cp:revision>1</cp:revision>
  <dcterms:created xsi:type="dcterms:W3CDTF">2025-07-13T22:03:29Z</dcterms:created>
  <dcterms:modified xsi:type="dcterms:W3CDTF">2025-07-14T00:32:48Z</dcterms:modified>
</cp:coreProperties>
</file>